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8"/>
    <p:restoredTop sz="94659"/>
  </p:normalViewPr>
  <p:slideViewPr>
    <p:cSldViewPr snapToGrid="0" snapToObjects="1">
      <p:cViewPr varScale="1">
        <p:scale>
          <a:sx n="70" d="100"/>
          <a:sy n="70" d="100"/>
        </p:scale>
        <p:origin x="208" y="18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Neuro-Symbolic Concept Learner (NS-CL)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03536" y="164592"/>
            <a:ext cx="1737360" cy="256032"/>
          </a:xfrm>
          <a:prstGeom prst="roundRect">
            <a:avLst/>
          </a:prstGeom>
          <a:solidFill>
            <a:srgbClr val="1D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NO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Source: Mao et al., 2019 (arXiv:1904.12584)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Learns concepts, words, and semantic parsing from paired images and QA pairs without explicit concept/program supervision.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Uses an object-based scene representation plus symbolic programs, so intermediate reasoning is interpretable.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Strong compositional generalization: can recombine learned concepts in new ways.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Designed for visual scene understanding, so it is domain-specific rather than a general data-analysis agent.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Depends on object-centric representations and curriculum learning, which makes the pipeline more specialized.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Less natural for messy, heterogeneous, open-ended enterprise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Concept learning, semantic parsing, VQA, and image-text retrieval; strong generalization to new compositions.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 i="0">
                <a:solidFill>
                  <a:srgbClr val="606C7E"/>
                </a:solidFill>
                <a:latin typeface="Aptos"/>
              </a:rPr>
              <a:t>Source: Mao et al., 2019 (arXiv:1904.12584)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Source: Yao et al., 2022/2023 (arXiv:2210.03629)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Interleaves reasoning traces with actions, so the model can revise plans after observing tool outputs.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Reduces hallucination and error propagation by letting the model fetch evidence instead of guessing.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Human-readable trajectories improve interpretability and debugging.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Still prompt-driven, so performance depends heavily on tool choice, tool quality, and prompt design.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No formal guarantee that the plan is correct or that every action respects task constraints.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Long action chains can still drift or accumulate mistakes.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HotpotQA, FEVER, ALFWorld, and WebShop; better performance than prior baselines with more interpretable trajectories.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 i="0">
                <a:solidFill>
                  <a:srgbClr val="606C7E"/>
                </a:solidFill>
                <a:latin typeface="Aptos"/>
              </a:rPr>
              <a:t>Source: Yao et al., 2022/2023 (arXiv:2210.03629)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AutoGen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Source: Wu et al., 2023 (arXiv:2308.08155)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Flexible multi-agent framework: agents can be LLMs, tools, humans, or a mixture of all three.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Conversation patterns are configurable, so it fits many workflows beyond one task family.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Good infrastructure for collaborative problem solving when the task needs decomposition.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1768882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It is a framework, not a correctness method: quality depends on how the dialogue is designed.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Multi-agent chatter can become verbose and expensive in tokens and latency.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 dirty="0">
                <a:solidFill>
                  <a:srgbClr val="223044"/>
                </a:solidFill>
                <a:latin typeface="Aptos"/>
              </a:rPr>
              <a:t>• Without explicit validation</a:t>
            </a:r>
            <a:r>
              <a:rPr lang="en-GB" sz="1550" b="0" i="0" dirty="0">
                <a:solidFill>
                  <a:srgbClr val="223044"/>
                </a:solidFill>
                <a:latin typeface="Aptos"/>
              </a:rPr>
              <a:t> (symbolic reasoning)</a:t>
            </a:r>
            <a:r>
              <a:rPr sz="1550" b="0" i="0" dirty="0">
                <a:solidFill>
                  <a:srgbClr val="223044"/>
                </a:solidFill>
                <a:latin typeface="Aptos"/>
              </a:rPr>
              <a:t>, a coherent conversation can still converge on a wrong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Qualitative demos across math, coding, QA, ops research, decision making, and entertainment.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 i="0">
                <a:solidFill>
                  <a:srgbClr val="606C7E"/>
                </a:solidFill>
                <a:latin typeface="Aptos"/>
              </a:rPr>
              <a:t>Source: Wu et al., 2023 (arXiv:2308.08155)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LINC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Source: Olausson et al., 2023/2024 (arXiv:2310.15164)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Translates natural-language premises into first-order logic and offloads deduction to a theorem prover.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The prover gives symbolic validity, so the reasoning step is much less brittle than pure prompting.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Paper reports complementary failure modes relative to chain-of-thought reasoning.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Only works when the problem can be faithfully formalized in first-order logic.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Accuracy depends on the semantic parsing step; translation errors become logical errors.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Less suitable for ambiguous, weakly structured, or rapidly changing data 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FOLIO and ProofWriter; gains over chain-of-thought and complementary failure modes.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 i="0">
                <a:solidFill>
                  <a:srgbClr val="606C7E"/>
                </a:solidFill>
                <a:latin typeface="Aptos"/>
              </a:rPr>
              <a:t>Source: Olausson et al., 2023/2024 (arXiv:2310.15164)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MetaGPT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Source: Hong et al., 2023 (arXiv:2308.00352)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Encodes SOPs into prompts and assigns specialized agent roles, which reduces chaotic collaboration.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Structured handoffs can reduce cascading hallucinations by forcing intermediate artifacts.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Useful when a problem benefits from a human-like assembly line of subtasks.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Relies on hand-crafted SOPs and role definitions; that rigidity can be a liability.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Multi-step coordination adds overhead and can be overkill for simpler tasks.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If early assumptions are wrong, later structured artifacts can still look polished while remaining incorrect.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HumanEval and MBPP; state of the art, with executable feedback improving MBPP by 5.4 points absolute.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 i="0">
                <a:solidFill>
                  <a:srgbClr val="606C7E"/>
                </a:solidFill>
                <a:latin typeface="Aptos"/>
              </a:rPr>
              <a:t>Source: Hong et al., 2023 (arXiv:2308.00352)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Toolformer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03536" y="164592"/>
            <a:ext cx="1737360" cy="256032"/>
          </a:xfrm>
          <a:prstGeom prst="roundRect">
            <a:avLst/>
          </a:prstGeom>
          <a:solidFill>
            <a:srgbClr val="1D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NO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Source: Schick et al., 2023 (arXiv:2302.04761)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Learns when to call tools, which tool to call, and how to use the returned result in future token prediction.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Improves arithmetic and factual lookup while keeping the base language model flexible.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Self-supervised tool-use learning reduces dependence on large hand-labeled tool datasets.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The tool set is still predefined, so transfer to a new tool ecosystem is not automatic.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Tool-call policy is learned, not verified, so the model can still misuse a tool or misread its output.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No symbolic end-to-end guarantee that the final answer is consistent.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Zero-shot gains on arithmetic, factual lookup, translation, search, and calendar 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 i="0">
                <a:solidFill>
                  <a:srgbClr val="606C7E"/>
                </a:solidFill>
                <a:latin typeface="Aptos"/>
              </a:rPr>
              <a:t>Source: Schick et al., 2023 (arXiv:2302.04761)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AlphaGeometry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03536" y="164592"/>
            <a:ext cx="1737360" cy="256032"/>
          </a:xfrm>
          <a:prstGeom prst="roundRect">
            <a:avLst/>
          </a:prstGeom>
          <a:solidFill>
            <a:srgbClr val="1D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NO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Source: Trinh et al., Nature 2024 (Olympiad geometry)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Combines neural guidance with symbolic deduction and avoids human demonstrations.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Synthetic theorem and proof generation helps overcome the scarcity of geometry training data.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Strong example of a neural generator paired with a formal verifier.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Highly specialized to Euclidean geometry, so the design is not directly general-purpose.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Requires a dedicated formal language and theorem prover.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Hard to map directly onto heterogeneous data-analysis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IMO geometry problems; solved all geometry problems from IMO 2000 and 2015 under expert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 i="0">
                <a:solidFill>
                  <a:srgbClr val="606C7E"/>
                </a:solidFill>
                <a:latin typeface="Aptos"/>
              </a:rPr>
              <a:t>Source: Trinh et al., Nature 2024 (Olympiad geometry)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Multi-agent analyst / coder / critic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Synthesized baseline from the workbook's approach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Task decomposition is natural: one agent drafts, one agent executes, one agent critiques.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A critic can catch some obvious logic or coding errors before the answer is returned.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Often easier to reason about than one unconstrained prompt.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Coordination overhead can be large, especially if every step is verbalized.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All agents can share the same blind spots, so critique may not be truly independent.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Without a validator, a tidy conversation can still produce an inconsistent final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Synthesized baseline only; no standalone paper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ReAct agent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Synthesized baseline from the workbook's approach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Simple and lightweight: one agent alternates between reasoning and tool calls.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Good when evidence lookup is enough and the workflow does not need many collaborators.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Easy to prototype because the control loop is compact.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Inherits ReAct's brittleness: action selection and prompt quality matter a lot.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No enforced schema, so outputs can drift across tasks and runs.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No built-in validation or consistency check after the tool-use loop 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Synthesized baseline only; no standalone paper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LLM-only analyst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Qualitative comparison only — no benchmark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Synthesized baseline from the workbook's approach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541264" cy="100584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268C56"/>
                </a:solidFill>
                <a:latin typeface="Aptos"/>
              </a:rPr>
              <a:t>Strengths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41264" cy="39502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541264" cy="1005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63040"/>
            <a:ext cx="5138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50" b="1" i="0">
                <a:solidFill>
                  <a:srgbClr val="C0392B"/>
                </a:solidFill>
                <a:latin typeface="Aptos"/>
              </a:rPr>
              <a:t>Shortcomings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The simplest setup: minimal orchestration, minimal latency, and the fewest moving parts.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Flexible for free-form interpretation when formal tools are unavailable.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Good as a starting point or a control condition.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5193792" cy="320040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Weak grounding: the model can answer confidently without checking facts or structure.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Most prone to hallucination and internal inconsistency.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50" b="0" i="0">
                <a:solidFill>
                  <a:srgbClr val="223044"/>
                </a:solidFill>
                <a:latin typeface="Aptos"/>
              </a:rPr>
              <a:t>• Hard to audit because there is no explicit action log or validation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73152" cy="64008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5623560"/>
            <a:ext cx="11036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223044"/>
                </a:solidFill>
                <a:latin typeface="Aptos"/>
              </a:rPr>
              <a:t>Reported evaluation: </a:t>
            </a:r>
            <a:r>
              <a:rPr sz="1150" b="0" i="0">
                <a:solidFill>
                  <a:srgbClr val="223044"/>
                </a:solidFill>
                <a:latin typeface="Aptos"/>
              </a:rPr>
              <a:t>Control baseline only; no standalone paper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18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Aptos"/>
              </a:rPr>
              <a:t>What GP can do better — and what to borrow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D6DFEA"/>
                </a:solidFill>
                <a:latin typeface="Aptos"/>
              </a:rPr>
              <a:t>Contribution story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80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80" b="0" i="0">
                <a:solidFill>
                  <a:srgbClr val="D6DFEA"/>
                </a:solidFill>
                <a:latin typeface="Aptos"/>
              </a:rPr>
              <a:t>Synthesized from the comparison above; ideas echo ReAct, AutoGen, Toolformer, LINC, and AlphaGeometry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25296"/>
            <a:ext cx="11365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990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 i="0">
                <a:solidFill>
                  <a:srgbClr val="223044"/>
                </a:solidFill>
                <a:latin typeface="Aptos"/>
              </a:rPr>
              <a:t>GP can learn from these systems, but it can go further by making coordination, actions, data, and validation explicit.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57984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57984"/>
            <a:ext cx="82296" cy="1234440"/>
          </a:xfrm>
          <a:prstGeom prst="rect">
            <a:avLst/>
          </a:prstGeom>
          <a:solidFill>
            <a:srgbClr val="2C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 i="0">
                <a:solidFill>
                  <a:srgbClr val="223044"/>
                </a:solidFill>
                <a:latin typeface="Aptos"/>
              </a:rPr>
              <a:t>Expert-defined coordination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87752"/>
            <a:ext cx="5166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60" b="0" i="0">
                <a:solidFill>
                  <a:srgbClr val="223044"/>
                </a:solidFill>
                <a:latin typeface="Aptos"/>
              </a:rPr>
              <a:t>More explicit routing, planning, and role control than ad hoc multi-agent chatter.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57984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2157984"/>
            <a:ext cx="82296" cy="1234440"/>
          </a:xfrm>
          <a:prstGeom prst="rect">
            <a:avLst/>
          </a:prstGeom>
          <a:solidFill>
            <a:srgbClr val="26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27685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 i="0">
                <a:solidFill>
                  <a:srgbClr val="223044"/>
                </a:solidFill>
                <a:latin typeface="Aptos"/>
              </a:rPr>
              <a:t>Atomic expert-defined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87752"/>
            <a:ext cx="5166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60" b="0" i="0">
                <a:solidFill>
                  <a:srgbClr val="223044"/>
                </a:solidFill>
                <a:latin typeface="Aptos"/>
              </a:rPr>
              <a:t>A bounded action vocabulary makes the system easier to test and easier to debug.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5760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82296" cy="1234440"/>
          </a:xfrm>
          <a:prstGeom prst="rect">
            <a:avLst/>
          </a:prstGeom>
          <a:solidFill>
            <a:srgbClr val="AD7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7764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 i="0">
                <a:solidFill>
                  <a:srgbClr val="223044"/>
                </a:solidFill>
                <a:latin typeface="Aptos"/>
              </a:rPr>
              <a:t>Expert-maintained data and ontologies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87368"/>
            <a:ext cx="5166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60" b="0" i="0">
                <a:solidFill>
                  <a:srgbClr val="223044"/>
                </a:solidFill>
                <a:latin typeface="Aptos"/>
              </a:rPr>
              <a:t>Keeps grounding consistent and reduces inconsistencies from stale or conflicting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57600"/>
            <a:ext cx="5577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3657600"/>
            <a:ext cx="82296" cy="1234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77647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 i="0">
                <a:solidFill>
                  <a:srgbClr val="223044"/>
                </a:solidFill>
                <a:latin typeface="Aptos"/>
              </a:rPr>
              <a:t>Symbolic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087368"/>
            <a:ext cx="5166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60" b="0" i="0">
                <a:solidFill>
                  <a:srgbClr val="223044"/>
                </a:solidFill>
                <a:latin typeface="Aptos"/>
              </a:rPr>
              <a:t>The output can be checked against formal rules, so accepted results satisfy the checked constraints.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175504"/>
            <a:ext cx="11365992" cy="786384"/>
          </a:xfrm>
          <a:prstGeom prst="round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323141"/>
            <a:ext cx="1030987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dirty="0">
                <a:solidFill>
                  <a:srgbClr val="FFFFFF"/>
                </a:solidFill>
                <a:latin typeface="Aptos"/>
              </a:rPr>
              <a:t>Borrow these ideas, not their weaknesses: </a:t>
            </a:r>
            <a:r>
              <a:rPr sz="1300" b="1" i="0" dirty="0" err="1">
                <a:solidFill>
                  <a:srgbClr val="FFFFFF"/>
                </a:solidFill>
                <a:latin typeface="Aptos"/>
              </a:rPr>
              <a:t>ReAct’s</a:t>
            </a:r>
            <a:r>
              <a:rPr sz="1300" b="1" i="0" dirty="0">
                <a:solidFill>
                  <a:srgbClr val="FFFFFF"/>
                </a:solidFill>
                <a:latin typeface="Aptos"/>
              </a:rPr>
              <a:t> observation loop, </a:t>
            </a:r>
            <a:r>
              <a:rPr sz="1300" b="1" i="0" dirty="0" err="1">
                <a:solidFill>
                  <a:srgbClr val="FFFFFF"/>
                </a:solidFill>
                <a:latin typeface="Aptos"/>
              </a:rPr>
              <a:t>AutoGen’s</a:t>
            </a:r>
            <a:r>
              <a:rPr sz="1300" b="1" i="0" dirty="0">
                <a:solidFill>
                  <a:srgbClr val="FFFFFF"/>
                </a:solidFill>
                <a:latin typeface="Aptos"/>
              </a:rPr>
              <a:t> flexible orchestration, </a:t>
            </a:r>
            <a:r>
              <a:rPr sz="1300" b="1" i="0" dirty="0" err="1">
                <a:solidFill>
                  <a:srgbClr val="FFFFFF"/>
                </a:solidFill>
                <a:latin typeface="Aptos"/>
              </a:rPr>
              <a:t>MetaGPT’s</a:t>
            </a:r>
            <a:r>
              <a:rPr sz="1300" b="1" i="0" dirty="0">
                <a:solidFill>
                  <a:srgbClr val="FFFFFF"/>
                </a:solidFill>
                <a:latin typeface="Aptos"/>
              </a:rPr>
              <a:t> structured handoffs,</a:t>
            </a:r>
            <a:endParaRPr lang="en-GB" sz="1300" b="1" i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1300" b="1" i="0" dirty="0" err="1">
                <a:solidFill>
                  <a:srgbClr val="FFFFFF"/>
                </a:solidFill>
                <a:latin typeface="Aptos"/>
              </a:rPr>
              <a:t>Toolformer’s</a:t>
            </a:r>
            <a:r>
              <a:rPr sz="1300" b="1" i="0" dirty="0">
                <a:solidFill>
                  <a:srgbClr val="FFFFFF"/>
                </a:solidFill>
                <a:latin typeface="Aptos"/>
              </a:rPr>
              <a:t> tool selection, and LINC/</a:t>
            </a:r>
            <a:r>
              <a:rPr sz="1300" b="1" i="0" dirty="0" err="1">
                <a:solidFill>
                  <a:srgbClr val="FFFFFF"/>
                </a:solidFill>
                <a:latin typeface="Aptos"/>
              </a:rPr>
              <a:t>AlphaGeometry’s</a:t>
            </a:r>
            <a:r>
              <a:rPr sz="1300" b="1" i="0" dirty="0">
                <a:solidFill>
                  <a:srgbClr val="FFFFFF"/>
                </a:solidFill>
                <a:latin typeface="Aptos"/>
              </a:rPr>
              <a:t> formal verification.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089904"/>
            <a:ext cx="104468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 dirty="0">
                <a:highlight>
                  <a:srgbClr val="FFFF00"/>
                </a:highlight>
                <a:latin typeface="Aptos"/>
              </a:rPr>
              <a:t>Bottom line: GP looks strongest when it combines expert routing, bounded actions, curated grounding, and symbolic checking.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0272" y="642823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 i="0">
                <a:solidFill>
                  <a:srgbClr val="606C7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1585</Words>
  <Application>Microsoft Macintosh PowerPoint</Application>
  <PresentationFormat>Widescreen</PresentationFormat>
  <Paragraphs>156</Paragraphs>
  <Slides>11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Francesco Fabiano</cp:lastModifiedBy>
  <cp:revision>4</cp:revision>
  <dcterms:created xsi:type="dcterms:W3CDTF">2013-01-27T09:14:16Z</dcterms:created>
  <dcterms:modified xsi:type="dcterms:W3CDTF">2026-06-08T11:30:31Z</dcterms:modified>
  <cp:category/>
</cp:coreProperties>
</file>